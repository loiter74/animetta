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C4B5FD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231A3C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2030E</c:v>
                  </c:pt>
                  <c:pt idx="3">
                    <c:v>2033E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28.2</c:v>
                </c:pt>
                <c:pt idx="1">
                  <c:v>36.8</c:v>
                </c:pt>
                <c:pt idx="2">
                  <c:v>140.8</c:v>
                </c:pt>
                <c:pt idx="3">
                  <c:v>318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150" u="none">
                  <a:solidFill>
                    <a:srgbClr val="231A3C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31A3C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月活</c:v>
                </c:pt>
              </c:strCache>
            </c:strRef>
          </c:tx>
          <c:spPr>
            <a:solidFill>
              <a:srgbClr val="DDD6FE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231A3C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DD6F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猫箱</c:v>
                  </c:pt>
                  <c:pt idx="1">
                    <c:v>Talkie+星野</c:v>
                  </c:pt>
                  <c:pt idx="2">
                    <c:v>Replika</c:v>
                  </c:pt>
                  <c:pt idx="3">
                    <c:v>Character.AI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20.1</c:v>
                </c:pt>
                <c:pt idx="2">
                  <c:v>40</c:v>
                </c:pt>
                <c:pt idx="3">
                  <c:v>45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150" u="none">
                  <a:solidFill>
                    <a:srgbClr val="231A3C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231A3C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开场：Animetta 是一个开源的全栈 AI 伙伴框架——不只是聊天机器人，而是能听、能说、能唱、能直播、能玩游戏的虚拟主播。今天用 13 页讲清：市场、竞品、我们的卡位与变现路径。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三个数字：全球市场 5-9 年 10 倍、中国虚拟数字人百亿级、App 消费同比 +64%。要点：这不是概念市场，付费行为已经发生。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Neuro-sama 是赛道的天花板证据：Twitch 订阅第一、单场 4.5 万观众。关键信息：它是闭源的、单人设的——没有人能把这种能力产品化，这是我们的机会。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横轴：闭源到开源；纵轴：纯对话到全栈交互。四类玩家各占一角，右上——既开源可自托管、又覆盖唱播玩全栈——只有 Animetta。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矩阵结论：Neuro-sama 能力最全但闭源单人设；开源框架止步于语音对话；商业 App 的记忆锁在云端。唯一全绿的一列是 Animetta。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左图证明 C 端规模：四款产品月活都是百万到千万级。右侧证明两件事：用户在付费（Character.AI 5,000 万美元年收入）、企业在付费（硅基智能 6.55 亿元营收、腾讯智影万元级月费）。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产品核心是一条 LangGraph 状态图：观众语音或弹幕进来，经过 ASR、人格与记忆注入、LLM 推理、情感理解，同时驱动 Live2D 表情、语音歌声、工具调用三路输出。底层四大平台能力都是插件化的。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卖点一：全栈。五项能力不是五个功能，而是同一个体。竞品对比：AIRI 3 项、OLV 和商业 App 各 2 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卖点二：记忆是关系的资产。三层存储 + 梗库，混合检索注入每轮对话。对用户：数据在自己手里；对平台：记忆资产形成迁移成本与复利。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卖点三：工程化。这套仓库不是 demo 代码——11 项 ADR、影响感知测试、全链路可观测。意味着商业化是叠加而非重构，融资的钱花在产品上而不是还债上。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路线图：Q3 已完成全栈原型；Q4 公开直播验证观众；2027 上半年云托管与形象市场开始变现；下半年进企业市场。明确区分已实现与承诺目标，保持可信度。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四层变现：免费开源获客 → 云托管订阅（对标闪剪/智影定价，做低门槛档）→ 形象人格市场抽成 → 企业私有化。重点讲第二层的定价锚点：市场已接受每月几百到上万元的价格带。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收尾三句话：时机（成本下降+市场增速）、卡位（开源全栈空档）、壁垒（工程骨架+数据复利）。CTA：把下一个 Neuro-sama 交给每个人。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5669280" cy="5669280"/>
          </a:xfrm>
          <a:prstGeom prst="ellipse">
            <a:avLst/>
          </a:prstGeom>
          <a:solidFill>
            <a:srgbClr val="6D28D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566160"/>
            <a:ext cx="4206240" cy="420624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5074920"/>
            <a:ext cx="1051560" cy="1051560"/>
          </a:xfrm>
          <a:prstGeom prst="ellipse">
            <a:avLst/>
          </a:prstGeom>
          <a:solidFill>
            <a:srgbClr val="8B5CF6">
              <a:alpha val="3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212080"/>
            <a:ext cx="3108960" cy="310896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A79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投资人简报 · 2026 年 9 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开源全栈 AI 伙伴与虚拟主播框架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9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会说 · 会听 · 会唱 · 会播 · 会玩 —— 把下一个 Neuro-sama 交给每个人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89204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51A45"/>
          </a:solidFill>
          <a:ln w="12700">
            <a:solidFill>
              <a:srgbClr val="4C3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状态图编排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71800" y="489204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51A45"/>
          </a:solidFill>
          <a:ln w="12700">
            <a:solidFill>
              <a:srgbClr val="4C3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混合记忆 · 数据主权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489204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51A45"/>
          </a:solidFill>
          <a:ln w="12700">
            <a:solidFill>
              <a:srgbClr val="4C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开源自托管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F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Confidential · 仅供交流使用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市场机会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陪伴：本轮 AI 应用中增速最快的赛道之一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 AI 陪伴市场规模（亿美元）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783080"/>
            <a:ext cx="4873752" cy="1335024"/>
          </a:xfrm>
          <a:prstGeom prst="roundRect">
            <a:avLst>
              <a:gd name="adj" fmla="val 6164"/>
            </a:avLst>
          </a:prstGeom>
          <a:solidFill>
            <a:srgbClr val="F4F0FE"/>
          </a:solidFill>
          <a:ln/>
        </p:spPr>
      </p:sp>
      <p:sp>
        <p:nvSpPr>
          <p:cNvPr id="7" name="Text 4"/>
          <p:cNvSpPr/>
          <p:nvPr/>
        </p:nvSpPr>
        <p:spPr>
          <a:xfrm>
            <a:off x="7059168" y="1837944"/>
            <a:ext cx="19659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30.8%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052560" y="1837944"/>
            <a:ext cx="2560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 AI 陪伴市场年复合增速（2024–2030）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0" y="3282696"/>
            <a:ext cx="4873752" cy="1335024"/>
          </a:xfrm>
          <a:prstGeom prst="roundRect">
            <a:avLst>
              <a:gd name="adj" fmla="val 6164"/>
            </a:avLst>
          </a:prstGeom>
          <a:solidFill>
            <a:srgbClr val="F4F0FE"/>
          </a:solidFill>
          <a:ln/>
        </p:spPr>
      </p:sp>
      <p:sp>
        <p:nvSpPr>
          <p:cNvPr id="10" name="Text 7"/>
          <p:cNvSpPr/>
          <p:nvPr/>
        </p:nvSpPr>
        <p:spPr>
          <a:xfrm>
            <a:off x="7059168" y="3337560"/>
            <a:ext cx="19659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480.6 亿元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052560" y="3337560"/>
            <a:ext cx="2560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年中国虚拟数字人核心市场规模（带动市场 6,402.7 亿元）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4782312"/>
            <a:ext cx="4873752" cy="1335024"/>
          </a:xfrm>
          <a:prstGeom prst="roundRect">
            <a:avLst>
              <a:gd name="adj" fmla="val 6164"/>
            </a:avLst>
          </a:prstGeom>
          <a:solidFill>
            <a:srgbClr val="F4F0FE"/>
          </a:solidFill>
          <a:ln/>
        </p:spPr>
      </p:sp>
      <p:sp>
        <p:nvSpPr>
          <p:cNvPr id="13" name="Text 10"/>
          <p:cNvSpPr/>
          <p:nvPr/>
        </p:nvSpPr>
        <p:spPr>
          <a:xfrm>
            <a:off x="7059168" y="4837176"/>
            <a:ext cx="19659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+64%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052560" y="4837176"/>
            <a:ext cx="2560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上半年 AI 陪伴 App 消费支出同比（8,200 万美元）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来源：Grand View Research（2024–2030 及 2026 年更新版预测）；艾媒咨询《中国虚拟数字人产业白皮书》；Appfigures（2025-08）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天花板验证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Neuro-sama：AI 主播已登顶 Twitch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4F0FE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78308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No.1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Twitch 全站订阅第一频道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16.2 万活跃订阅 · 2026-01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超越全部真人主播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04" y="1572768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4F0FE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78308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45,605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47872" y="2542032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单场直播峰值观众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VTuber 纪录 · 2025-01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572768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4F0FE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178308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26.2 万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37376" y="2542032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第三次 Subathon 活动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累计付费订阅 · 打赏验证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25712" y="1572768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4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78308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4.09 亿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326880" y="2542032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YouTube 累计播放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91.6 万订阅 · 切片二次传播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005072"/>
            <a:ext cx="12188952" cy="129844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14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一个开发者 + 一套自研框架 = 头部真人主播的产能。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Neuro-sama 由 Vedal 近乎独立运营，完整验证了「AI 主播」的订阅、打赏与内容传播商业闭环——Animetta 要把这条被验证的路径产品化，交给每一位创作者。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天花板已被验证，稀缺的是「人人可用」的框架。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来源：Twitch / Streams Charts；Netinfluencer、Tubefilter（2026-01）；Social Blade（2026-09）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竞争格局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四类玩家，无人占据「开源自托管 × 全栈交互」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3703320"/>
            <a:ext cx="6720840" cy="0"/>
          </a:xfrm>
          <a:prstGeom prst="line">
            <a:avLst/>
          </a:prstGeom>
          <a:noFill/>
          <a:ln w="19050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54880" y="1572768"/>
            <a:ext cx="0" cy="4370832"/>
          </a:xfrm>
          <a:prstGeom prst="line">
            <a:avLst/>
          </a:prstGeom>
          <a:noFill/>
          <a:ln w="19050">
            <a:solidFill>
              <a:srgbClr val="DDD6FE"/>
            </a:solidFill>
            <a:prstDash val="solid"/>
            <a:headEnd type="triangle"/>
          </a:ln>
        </p:spPr>
      </p:sp>
      <p:sp>
        <p:nvSpPr>
          <p:cNvPr id="6" name="Text 4"/>
          <p:cNvSpPr/>
          <p:nvPr/>
        </p:nvSpPr>
        <p:spPr>
          <a:xfrm>
            <a:off x="1417320" y="6016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闭源 SaaS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6016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开源自托管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 rot="16200000">
            <a:off x="-685800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纯对话  ⟶  全栈具身交互（唱 · 播 · 玩）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38528"/>
            <a:ext cx="2103120" cy="1024128"/>
          </a:xfrm>
          <a:prstGeom prst="roundRect">
            <a:avLst>
              <a:gd name="adj" fmla="val 8036"/>
            </a:avLst>
          </a:prstGeom>
          <a:solidFill>
            <a:srgbClr val="6D28D9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6D28D9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938528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开源自托管 · 五项全栈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1938528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3852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Neuro-sama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闭源 · 单人设 · Twitch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40680" y="4023360"/>
            <a:ext cx="260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4096512"/>
            <a:ext cx="2377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AIRI · 4.9 万 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Open-LLM-VTuber · 1.4 万 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Amica · 0.2 万 ★（停更）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554480" y="3931920"/>
            <a:ext cx="2788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931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Character.AI · Replika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星野 · 猫箱 · X Eva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554480" y="4956048"/>
            <a:ext cx="27889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9560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硅基智能 · 腾讯智影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端播报型 · 非实时交互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157276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为什么右上象限空缺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77072" y="2121408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8833104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闭源 App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体验好，但记忆与关系锁死在云端，用户无法带走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77072" y="3182112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8833104" y="311810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开源框架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可自托管，却止步于「桌面聊天」，缺直播与歌唱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77072" y="4242816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8833104" y="417880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端数字人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念稿播报为主，不是能对话的实时智能体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49640" y="5394960"/>
            <a:ext cx="3182112" cy="566928"/>
          </a:xfrm>
          <a:prstGeom prst="roundRect">
            <a:avLst>
              <a:gd name="adj" fmla="val 14516"/>
            </a:avLst>
          </a:prstGeom>
          <a:solidFill>
            <a:srgbClr val="1A1233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539496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右上象限 = Animetta 独占卡位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为 GitHub 星标数，来源：GitHub API 实测（2026-09-19）；其余为各公司公开资料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竞品对比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「说·听·唱·播·玩」五项能力 × 五类玩家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17320"/>
                <a:gridCol w="1417320"/>
                <a:gridCol w="1691640"/>
                <a:gridCol w="1691640"/>
                <a:gridCol w="1600200"/>
                <a:gridCol w="135331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能力维度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Neuro-sama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AIRI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Open-LLM-VTuber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商业陪伴 App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 端数字人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Animetta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实时语音对话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6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念稿播报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可打断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Live2D / 虚拟形象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Live2D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VRM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Live2D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6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2D 头像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视频分身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Live2D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长期记忆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6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6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锁在云端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混合检索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歌唱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6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少数内置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RVC 声线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直播实时互动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Twitch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668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带货话术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B 站弹幕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游戏游玩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MC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MC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A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开源自托管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B3C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E185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支持 · 部分 = 有限支持 · — 不支持。Animetta 的歌唱与游戏为原型级能力（见 P10 路线图）。来源：各项目 GitHub 仓库与官方产品页（2026-09）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付费意愿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端千万级用户，B 端亿元级营收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1790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 AI 陪伴产品月活（百万，2025）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819656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4"/>
          <p:cNvSpPr/>
          <p:nvPr/>
        </p:nvSpPr>
        <p:spPr>
          <a:xfrm>
            <a:off x="7022592" y="1737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Character.AI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年收入约 5,000 万美元（+66%），获 Google 约 27 亿美元技术授权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2706624"/>
            <a:ext cx="4919472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2898648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281635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小冰公司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投后估值约 20 亿美元，2024 年以 140 亿元列胡润独角兽榜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3785616"/>
            <a:ext cx="4919472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0" y="3977640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0"/>
          <p:cNvSpPr/>
          <p:nvPr/>
        </p:nvSpPr>
        <p:spPr>
          <a:xfrm>
            <a:off x="7022592" y="3895344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硅基智能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数字人营收 2022 年 2.23 亿 → 2024 年 6.55 亿元，两年近 3 倍，已递交港股招股书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66560" y="4864608"/>
            <a:ext cx="4919472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5056632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" name="Text 13"/>
          <p:cNvSpPr/>
          <p:nvPr/>
        </p:nvSpPr>
        <p:spPr>
          <a:xfrm>
            <a:off x="7022592" y="497433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定价锚点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闪剪直播带货 2,980 元 / 年；腾讯智影 2,000 元 / 形象、AI 直播间算力 1 万+ / 月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来源：Business of Apps / WSJ；财新、胡润研究院；硅基智能招股书（财联社）；MiniMax 招股书（虎嗅转述）；点点数据（2024–2026）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产品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 LangGraph 状态图编排的全栈 AI 伙伴框架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从观众输入到三路实时输出 —— 链路每一步可插拔、可观测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1325880" cy="1188720"/>
          </a:xfrm>
          <a:prstGeom prst="roundRect">
            <a:avLst>
              <a:gd name="adj" fmla="val 6923"/>
            </a:avLst>
          </a:prstGeom>
          <a:solidFill>
            <a:srgbClr val="1A12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观众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9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 · 弹幕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3474720"/>
            <a:ext cx="228600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301752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ASR 语音识别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3017520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人格 · 记忆注入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3017520"/>
            <a:ext cx="1325880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推理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3017520"/>
            <a:ext cx="1325880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情感理解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38728" y="3474720"/>
            <a:ext cx="228600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13248" y="3474720"/>
            <a:ext cx="228600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59168" y="3474720"/>
            <a:ext cx="228600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0" y="3474720"/>
            <a:ext cx="201168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7968" y="2514600"/>
            <a:ext cx="0" cy="192024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87968" y="2514600"/>
            <a:ext cx="237744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0" y="2103120"/>
            <a:ext cx="2587752" cy="822960"/>
          </a:xfrm>
          <a:prstGeom prst="roundRect">
            <a:avLst>
              <a:gd name="adj" fmla="val 10000"/>
            </a:avLst>
          </a:prstGeom>
          <a:solidFill>
            <a:srgbClr val="F4F0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210312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Live2D 表情动作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87968" y="3474720"/>
            <a:ext cx="237744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3063240"/>
            <a:ext cx="2587752" cy="822960"/>
          </a:xfrm>
          <a:prstGeom prst="roundRect">
            <a:avLst>
              <a:gd name="adj" fmla="val 10000"/>
            </a:avLst>
          </a:prstGeom>
          <a:solidFill>
            <a:srgbClr val="F4F0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7152" y="306324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TTS 语音 · RVC 歌声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87968" y="4434840"/>
            <a:ext cx="237744" cy="0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0" y="4023360"/>
            <a:ext cx="2587752" cy="82296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/>
        </p:spPr>
      </p:sp>
      <p:sp>
        <p:nvSpPr>
          <p:cNvPr id="29" name="Text 27"/>
          <p:cNvSpPr/>
          <p:nvPr/>
        </p:nvSpPr>
        <p:spPr>
          <a:xfrm>
            <a:off x="9217152" y="402336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工具调用：Minecraft · 直播互动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2688336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· Electron · Live2D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319272" y="5074920"/>
            <a:ext cx="2688336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/>
        </p:spPr>
      </p:sp>
      <p:sp>
        <p:nvSpPr>
          <p:cNvPr id="33" name="Text 31"/>
          <p:cNvSpPr/>
          <p:nvPr/>
        </p:nvSpPr>
        <p:spPr>
          <a:xfrm>
            <a:off x="3483864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实时通道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Socket.IO 实时会话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81344" y="5074920"/>
            <a:ext cx="2688336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/>
        </p:spPr>
      </p:sp>
      <p:sp>
        <p:nvSpPr>
          <p:cNvPr id="35" name="Text 33"/>
          <p:cNvSpPr/>
          <p:nvPr/>
        </p:nvSpPr>
        <p:spPr>
          <a:xfrm>
            <a:off x="6345936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 插件制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/ ASR / TTS / VAD 一键切换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43416" y="5074920"/>
            <a:ext cx="2688336" cy="914400"/>
          </a:xfrm>
          <a:prstGeom prst="roundRect">
            <a:avLst>
              <a:gd name="adj" fmla="val 9000"/>
            </a:avLst>
          </a:prstGeom>
          <a:solidFill>
            <a:srgbClr val="F4F0FE"/>
          </a:solidFill>
          <a:ln/>
        </p:spPr>
      </p:sp>
      <p:sp>
        <p:nvSpPr>
          <p:cNvPr id="37" name="Text 35"/>
          <p:cNvSpPr/>
          <p:nvPr/>
        </p:nvSpPr>
        <p:spPr>
          <a:xfrm>
            <a:off x="9208008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可观测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OTel · Prometheus · Stats 面板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ASR → 人格 → LLM → 情感 → 输出的编排链路、Provider 插件与记忆系统均已实现并经测试覆盖（11 项 ADR）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· 卖点一 · 全栈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说·听·唱·播·玩 五项一体，竞品平均覆盖不到两项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075688" cy="3246120"/>
          </a:xfrm>
          <a:prstGeom prst="roundRect">
            <a:avLst>
              <a:gd name="adj" fmla="val 3965"/>
            </a:avLst>
          </a:prstGeom>
          <a:solidFill>
            <a:srgbClr val="F4F0F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多模型大脑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035808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/ Qwen / MIMO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 插件化切换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1488" y="1572768"/>
            <a:ext cx="2075688" cy="3246120"/>
          </a:xfrm>
          <a:prstGeom prst="roundRect">
            <a:avLst>
              <a:gd name="adj" fmla="val 3965"/>
            </a:avLst>
          </a:prstGeom>
          <a:solidFill>
            <a:srgbClr val="F4F0FE"/>
          </a:solidFill>
          <a:ln/>
        </p:spPr>
      </p:sp>
      <p:sp>
        <p:nvSpPr>
          <p:cNvPr id="10" name="Shape 8"/>
          <p:cNvSpPr/>
          <p:nvPr/>
        </p:nvSpPr>
        <p:spPr>
          <a:xfrm>
            <a:off x="2944368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2944368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44368" y="260604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实时听觉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944368" y="3035808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 ASR 识别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用户可随时打断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65776" y="1572768"/>
            <a:ext cx="2075688" cy="3246120"/>
          </a:xfrm>
          <a:prstGeom prst="roundRect">
            <a:avLst>
              <a:gd name="adj" fmla="val 3965"/>
            </a:avLst>
          </a:prstGeom>
          <a:solidFill>
            <a:srgbClr val="F4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8656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5248656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48656" y="260604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歌唱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248656" y="3035808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RVC 声线推理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弹幕点歌开唱（原型）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70064" y="1572768"/>
            <a:ext cx="2075688" cy="3246120"/>
          </a:xfrm>
          <a:prstGeom prst="roundRect">
            <a:avLst>
              <a:gd name="adj" fmla="val 3965"/>
            </a:avLst>
          </a:prstGeom>
          <a:solidFill>
            <a:srgbClr val="F4F0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552944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7552944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52944" y="260604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直播营业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52944" y="3035808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站弹幕实时互动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OBS 推流直播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74352" y="1572768"/>
            <a:ext cx="2075688" cy="3246120"/>
          </a:xfrm>
          <a:prstGeom prst="roundRect">
            <a:avLst>
              <a:gd name="adj" fmla="val 3965"/>
            </a:avLst>
          </a:prstGeom>
          <a:solidFill>
            <a:srgbClr val="F4F0FE"/>
          </a:solidFill>
          <a:ln/>
        </p:spPr>
      </p:sp>
      <p:sp>
        <p:nvSpPr>
          <p:cNvPr id="25" name="Shape 23"/>
          <p:cNvSpPr/>
          <p:nvPr/>
        </p:nvSpPr>
        <p:spPr>
          <a:xfrm>
            <a:off x="9857232" y="1810512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9857232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57232" y="260604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自主游玩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57232" y="3035808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Minecraft 世界交互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弹幕点名互动（原型）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5047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五项能力覆盖对比（● 支持）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3949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AIRI  ●●●○○  3/5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19272" y="53949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Open-LLM-VTuber  ●●○○○  2/5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81344" y="53949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商业陪伴 App  ●●○○○  2/5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43416" y="53949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18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  ●●●●●  5/5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870448"/>
            <a:ext cx="11274552" cy="475488"/>
          </a:xfrm>
          <a:prstGeom prst="roundRect">
            <a:avLst>
              <a:gd name="adj" fmla="val 17308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8704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一体化意味着同一个记忆与人格贯穿所有场景：她昨天陪你聊的天，今天会在直播里记得，唱歌时也用同一个声音。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覆盖统计口径见上页矩阵；Animetta 歌唱与游玩为原型级链路，进入稳定性打磨阶段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· 卖点二 · 记忆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混合记忆：越相处越懂你，数据归用户所有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31720" y="1517904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1517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每一轮对话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1975104"/>
            <a:ext cx="0" cy="219456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231136"/>
            <a:ext cx="2011680" cy="1005840"/>
          </a:xfrm>
          <a:prstGeom prst="roundRect">
            <a:avLst>
              <a:gd name="adj" fmla="val 8182"/>
            </a:avLst>
          </a:prstGeom>
          <a:solidFill>
            <a:srgbClr val="F4F0F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3113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Chroma 向量库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语义记忆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2231136"/>
            <a:ext cx="2011680" cy="1005840"/>
          </a:xfrm>
          <a:prstGeom prst="roundRect">
            <a:avLst>
              <a:gd name="adj" fmla="val 8182"/>
            </a:avLst>
          </a:prstGeom>
          <a:solidFill>
            <a:srgbClr val="F4F0FE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23113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FTS5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关键词记忆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231136"/>
            <a:ext cx="2011680" cy="1005840"/>
          </a:xfrm>
          <a:prstGeom prst="roundRect">
            <a:avLst>
              <a:gd name="adj" fmla="val 8182"/>
            </a:avLst>
          </a:prstGeom>
          <a:solidFill>
            <a:srgbClr val="F4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23113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Wiki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人格档案 · 兴趣画像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3236976"/>
            <a:ext cx="0" cy="219456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493008"/>
            <a:ext cx="658368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9300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站梗库 —— 流行梗与直播语境持续学习（ADR-010）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4114800"/>
            <a:ext cx="0" cy="219456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4370832"/>
            <a:ext cx="6583680" cy="6858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7083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检索融合 · 向量 70% + 关键词 30% 混合权重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5056632"/>
            <a:ext cx="0" cy="219456"/>
          </a:xfrm>
          <a:prstGeom prst="line">
            <a:avLst/>
          </a:prstGeom>
          <a:noFill/>
          <a:ln w="22225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5312664"/>
            <a:ext cx="65836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1266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E18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注入下一轮对话 —— 她记得你说过的每一句话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06640" y="1627632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数据主权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 App 的记忆锁死在云端、无法迁移；自托管让用户真正拥有这段「关系」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406640" y="2944368"/>
            <a:ext cx="4325112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10896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召回质量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 + 关键词混合检索（ADR-002），比单一向量记忆召回更准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406640" y="4425696"/>
            <a:ext cx="4325112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590288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人格一致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Wiki 档案 + 梗库让角色不失忆、不变脸（ADR-005 / 010），长期陪伴成立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混合权重 70/30 为默认配置，可调；架构见仓库 ADR-002 / ADR-005 / ADR-010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· 卖点三 · 工程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个人产品的体验，企业工程的骨架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F4F0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架构决策记录（ADR）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F4F0FE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1691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个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02152" y="23042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架构分层模块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F4F0FE"/>
          </a:solidFill>
          <a:ln/>
        </p:spPr>
      </p:sp>
      <p:sp>
        <p:nvSpPr>
          <p:cNvPr id="11" name="Text 9"/>
          <p:cNvSpPr/>
          <p:nvPr/>
        </p:nvSpPr>
        <p:spPr>
          <a:xfrm>
            <a:off x="6364224" y="1691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 个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4224" y="23042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编排图节点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43416" y="15544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F4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1691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OTel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26296" y="230428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全链路分布式追踪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68833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 注册制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3767328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interface → 实现 → 工厂 → 导出，新增模型供应商零侵入核心代码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9272" y="3154680"/>
            <a:ext cx="268833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33375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影响感知验证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502152" y="3767328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tooling.quality 按改动范围自动圈定测试组，重构有安全网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1344" y="3154680"/>
            <a:ext cx="268833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3375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可观测栈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364224" y="3767328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OTel 追踪 + Prometheus 指标 + Stats 面板，线上问题分钟级定位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43416" y="3154680"/>
            <a:ext cx="268833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6296" y="33375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一键部署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26296" y="3767328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Compose / Zeabur，个人版一条命令拉起全栈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5257800"/>
            <a:ext cx="12188952" cy="9144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商业化是在就绪的骨架上叠加功能，而不是推倒重构 —— 这是小团队做大产品的唯一路径。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数据来源：仓库 docs/adrs/（11 项 ADR）、架构知识图谱统计（15 分层 / 63 编排节点）、tooling/quality 组件映射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· 路线图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从开源原型到商业闭环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21408"/>
            <a:ext cx="10515600" cy="0"/>
          </a:xfrm>
          <a:prstGeom prst="line">
            <a:avLst/>
          </a:prstGeom>
          <a:noFill/>
          <a:ln w="25400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636776" y="1993392"/>
            <a:ext cx="256032" cy="256032"/>
          </a:xfrm>
          <a:prstGeom prst="ellipse">
            <a:avLst/>
          </a:prstGeom>
          <a:solidFill>
            <a:srgbClr val="6D28D9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Q3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4F0FE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已达成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语音对话全链路闭环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站直播与弹幕接入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混合记忆 v2 落地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歌唱 · Minecraft 原型跑通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99339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Q4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6704" y="251460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公开测试直播 30 分钟不中断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 10 条传播切片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观众反馈驱动人格迭代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15784" y="199339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H1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36208" y="251460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37376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Anima Cloud 云托管 Beta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形象 · 人格市场上线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抖音 / YouTube 多平台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05288" y="1993392"/>
            <a:ext cx="256032" cy="256032"/>
          </a:xfrm>
          <a:prstGeom prst="ellipse">
            <a:avLst/>
          </a:prstGeom>
          <a:solidFill>
            <a:srgbClr val="EC4899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5712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H2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25712" y="251460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0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企业虚拟主播私有化部署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MCN 内容合作与分成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（目标承诺，非当前实现）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4406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四阶段节奏：先验证「有人愿意看」，再验证「有人愿意付」——每一步都以开源社区的反馈为输入。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「已达成」以仓库当前实现为准；「规划」为承诺目标（招标口径），非当前实现，详见仓库 roadmap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· 商业模式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开源获客，四层变现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88336" cy="32918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开源核心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MIT 协议免费自托管，沉淀开发者生态与信任，作为获客漏斗顶部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041648"/>
            <a:ext cx="2322576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锚点：AIRI 4.9 万 ★ 验证社区需求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1572768"/>
            <a:ext cx="2688336" cy="3291840"/>
          </a:xfrm>
          <a:prstGeom prst="roundRect">
            <a:avLst>
              <a:gd name="adj" fmla="val 3061"/>
            </a:avLst>
          </a:prstGeom>
          <a:solidFill>
            <a:srgbClr val="F4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7373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2152" y="224028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Anima Cloud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02152" y="269748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托管订阅：免配置、常在线、数据可导出，按创作者档位计价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02152" y="4041648"/>
            <a:ext cx="2322576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41148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 ¥99–399/月 ｜ 闪剪 298 元/月、智影直播间 1 万+/月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572768"/>
            <a:ext cx="2688336" cy="32918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7373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64224" y="224028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形象 · 人格市场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4224" y="269748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Live2D 形象 + 人格包交易，创作者经济飞轮，平台抽成 30%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64224" y="4041648"/>
            <a:ext cx="2322576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41148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锚点：Live2D 模型单品市场已是成熟供给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43416" y="1572768"/>
            <a:ext cx="2688336" cy="32918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17373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26296" y="224028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企业方案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26296" y="269748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虚拟主播 / 数字员工私有化部署，含合规与运维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226296" y="4041648"/>
            <a:ext cx="2322576" cy="0"/>
          </a:xfrm>
          <a:prstGeom prst="line">
            <a:avLst/>
          </a:prstGeom>
          <a:noFill/>
          <a:ln w="9525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41148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D28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客单 10 万+ ｜ 硅基智能 2024 营收 6.55 亿元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138928"/>
            <a:ext cx="12188952" cy="10058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138928"/>
            <a:ext cx="25146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1A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两端市场均已被验证：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383280" y="5138928"/>
            <a:ext cx="80467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端 Character.AI 年收入约 5,000 万美元、AI 陪伴 App 消费半年 8,200 万美元；B 端硅基智能两年营收近 3 倍。Animetta 以开源占据中间层 —— 先生态，后变现。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锚点数据来源：GitHub、闪剪 / 腾讯智影公开定价、硅基智能招股书、Business of Apps / Appfigures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8136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5669280" cy="5669280"/>
          </a:xfrm>
          <a:prstGeom prst="ellipse">
            <a:avLst/>
          </a:prstGeom>
          <a:solidFill>
            <a:srgbClr val="6D28D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566160"/>
            <a:ext cx="4206240" cy="420624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5074920"/>
            <a:ext cx="1051560" cy="1051560"/>
          </a:xfrm>
          <a:prstGeom prst="ellipse">
            <a:avLst/>
          </a:prstGeom>
          <a:solidFill>
            <a:srgbClr val="8B5CF6">
              <a:alpha val="3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212080"/>
            <a:ext cx="3108960" cy="310896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4B5F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· 结语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为什么是现在，为什么是我们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7320" y="20208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23160" y="201168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实时语音与推理成本快速下降，复制 Neuro-sama 的窗口刚刚打开；市场正以 30%+ 复合增速扩张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1363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17320" y="31912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23160" y="3182112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开源框架无人覆盖「记忆 + 歌唱 + 直播 + 游戏」组合；商业 App 闭源锁定用户，反向衬托自托管价值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30682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17320" y="43616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壁垒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23160" y="4352544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企业级工程骨架已就绪；记忆与人格资产随使用持续沉淀，形成数据复利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577840"/>
            <a:ext cx="6583680" cy="0"/>
          </a:xfrm>
          <a:prstGeom prst="line">
            <a:avLst/>
          </a:prstGeom>
          <a:noFill/>
          <a:ln w="9525">
            <a:solidFill>
              <a:srgbClr val="4C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760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把下一个 Neuro-sama，交给每个人。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382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5F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 · 投资人简报 · 2026.09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Animetta — 开源全栈 AI 伙伴与虚拟主播框架 · 投资人简报</dc:title>
  <dc:subject>竞品分析与产品卖点</dc:subject>
  <dc:creator>Animetta</dc:creator>
  <cp:lastModifiedBy>Animetta</cp:lastModifiedBy>
  <cp:revision>1</cp:revision>
  <dcterms:created xsi:type="dcterms:W3CDTF">2026-09-19T10:25:37Z</dcterms:created>
  <dcterms:modified xsi:type="dcterms:W3CDTF">2026-09-19T10:25:37Z</dcterms:modified>
</cp:coreProperties>
</file>