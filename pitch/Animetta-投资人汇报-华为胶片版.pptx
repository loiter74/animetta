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市场规模</c:v>
                </c:pt>
              </c:strCache>
            </c:strRef>
          </c:tx>
          <c:spPr>
            <a:solidFill>
              <a:srgbClr val="C9C9C9"/>
            </a:solidFill>
            <a:effectLst/>
          </c:spPr>
          <c:invertIfNegative val="0"/>
          <c:dLbls>
            <c:numFmt formatCode="#,##0.#" sourceLinked="0"/>
            <c:txPr>
              <a:bodyPr/>
              <a:lstStyle/>
              <a:p>
                <a:pPr>
                  <a:defRPr b="0" i="0" strike="noStrike" sz="1150" u="none">
                    <a:solidFill>
                      <a:srgbClr val="1F1F1F"/>
                    </a:solidFill>
                    <a:latin typeface="微软雅黑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9C9C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6A6A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F7F7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2024</c:v>
                  </c:pt>
                  <c:pt idx="1">
                    <c:v>2025</c:v>
                  </c:pt>
                  <c:pt idx="2">
                    <c:v>2030E</c:v>
                  </c:pt>
                  <c:pt idx="3">
                    <c:v>2033E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28.2</c:v>
                </c:pt>
                <c:pt idx="1">
                  <c:v>36.8</c:v>
                </c:pt>
                <c:pt idx="2">
                  <c:v>140.8</c:v>
                </c:pt>
                <c:pt idx="3">
                  <c:v>318</c:v>
                </c:pt>
              </c:numCache>
            </c:numRef>
          </c:val>
        </c:ser>
        <c:dLbls>
          <c:numFmt formatCode="#,##0.#" sourceLinked="0"/>
          <c:txPr>
            <a:bodyPr/>
            <a:lstStyle/>
            <a:p>
              <a:pPr>
                <a:defRPr b="0" i="0" strike="noStrike" sz="1150" u="none">
                  <a:solidFill>
                    <a:srgbClr val="1F1F1F"/>
                  </a:solidFill>
                  <a:latin typeface="微软雅黑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1F1F1F"/>
                </a:solidFill>
                <a:latin typeface="微软雅黑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月活</c:v>
                </c:pt>
              </c:strCache>
            </c:strRef>
          </c:tx>
          <c:spPr>
            <a:solidFill>
              <a:srgbClr val="C9C9C9"/>
            </a:solidFill>
            <a:effectLst/>
          </c:spPr>
          <c:invertIfNegative val="0"/>
          <c:dLbls>
            <c:numFmt formatCode="#,##0.#" sourceLinked="0"/>
            <c:txPr>
              <a:bodyPr/>
              <a:lstStyle/>
              <a:p>
                <a:pPr>
                  <a:defRPr b="0" i="0" strike="noStrike" sz="1150" u="none">
                    <a:solidFill>
                      <a:srgbClr val="1F1F1F"/>
                    </a:solidFill>
                    <a:latin typeface="微软雅黑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9C9C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6A6A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F7F7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猫箱</c:v>
                  </c:pt>
                  <c:pt idx="1">
                    <c:v>Talkie+星野</c:v>
                  </c:pt>
                  <c:pt idx="2">
                    <c:v>Replika</c:v>
                  </c:pt>
                  <c:pt idx="3">
                    <c:v>Character.AI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4.5</c:v>
                </c:pt>
                <c:pt idx="1">
                  <c:v>20.1</c:v>
                </c:pt>
                <c:pt idx="2">
                  <c:v>40</c:v>
                </c:pt>
                <c:pt idx="3">
                  <c:v>45</c:v>
                </c:pt>
              </c:numCache>
            </c:numRef>
          </c:val>
        </c:ser>
        <c:dLbls>
          <c:numFmt formatCode="#,##0.#" sourceLinked="0"/>
          <c:txPr>
            <a:bodyPr/>
            <a:lstStyle/>
            <a:p>
              <a:pPr>
                <a:defRPr b="0" i="0" strike="noStrike" sz="1150" u="none">
                  <a:solidFill>
                    <a:srgbClr val="1F1F1F"/>
                  </a:solidFill>
                  <a:latin typeface="微软雅黑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50" b="1" i="0" u="none" strike="noStrike">
                <a:solidFill>
                  <a:srgbClr val="1F1F1F"/>
                </a:solidFill>
                <a:latin typeface="微软雅黑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华为胶片式封面：标题即结论，四段式（基于/结合/借鉴/制定）概括整份汇报的逻辑链。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提纲页：四段汇报逻辑——先证明市场与天花板，再证明竞争空缺，然后给方案，最后谈回报。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定量：三个规模数字；定性判断用红字给出——供给空缺是后面所有论证的起点。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华为式数据页：表格讲定量，红字给结论。核心信息：闭源单人作坊验证了天花板，产品化机会留给我们。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格局图：灰框为现有玩家，红框为 Animetta 卡位。右侧三条定性解释空缺原因。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矩阵是本汇报的核心证据页：一页看清——闭源最强者不可复用，可复用者不全栈，全栈且开源只有 Animetta。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左图 C 端规模，右表 B 端与定价锚点——为第 13 页商业模式的价格带提供依据。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方案页：一条 LangGraph 状态图串起全栈，红色输出框是差异化的第三路——工具调用（玩游戏、直播互动）。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五列以细分隔线代替卡片（华为胶片更素）；覆盖对比给出量化差距；红字收束定性感。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纵向数据流：三层存储 + 梗库 → 黑色融合条 → 红框结论（注入对话）。右侧三条价值定性。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四个量化数字 + 机制/说明/价值三列表：华为式工程论证。红字结论回应投资人最关心的钱花在哪。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时间轴：黑点=已达成，空心=规划，红点=商业闭环终点。口径诚实标注，防止尽调风险。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四层变现表：层级红字编号，定价与锚点同列对照——华为式「有据定价」。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华为胶片铁律：结尾红色字总结。前三条黑字回顾（时机/卡位/壁垒），红色建议收尾。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投资汇报 · 2026 年 9 月 · 机密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97280" y="1143000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Animetta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1097280" y="20574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开源全栈 AI 伙伴与虚拟主播框架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097280" y="2697480"/>
            <a:ext cx="996696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97180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10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基于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719072" y="297180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AI 陪伴市场高速增长与 Neuro-sama 商业闭环验证的产业机会，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3538728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10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结合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719072" y="353872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创作者对「开源自托管 · 全栈能力」AI 伙伴的核心诉求，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4105656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10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借鉴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719072" y="4105656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AIRI 与 Open-LLM-VTuner 的开源社区实践，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4672584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10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制定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719072" y="4672584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Animetta 全栈 AI 伙伴与虚拟主播框架的投资与共建方案。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7280" y="553212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10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把下一个 Neuro-sama，交给每个人。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97280" y="6172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汇报人：Animetta 团队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汇报提纲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745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05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看市场、看竞品、看方案、看回报</a:t>
            </a:r>
            <a:endParaRPr lang="en-US" sz="2050" dirty="0"/>
          </a:p>
        </p:txBody>
      </p:sp>
      <p:sp>
        <p:nvSpPr>
          <p:cNvPr id="4" name="Text 2"/>
          <p:cNvSpPr/>
          <p:nvPr/>
        </p:nvSpPr>
        <p:spPr>
          <a:xfrm>
            <a:off x="457200" y="1801368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10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80160" y="178308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市场与机会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023360" y="178308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全球市场十年量级增长 · Neuro-sama 验证 AI 主播天花板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2651760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898648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10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280160" y="288036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竞品分析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023360" y="288036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四类玩家格局 · 五项能力矩阵 · C 端与 B 端付费验证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3749040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995928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10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280160" y="39776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方案与卖点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023360" y="397764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全栈一体化 · 混合记忆 · 企业级工程骨架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57200" y="4846320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5093208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10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280160" y="507492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规划与回报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4023360" y="507492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四阶段路线 · 四层变现 · 结论与建议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0881360" y="651052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/ 14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一、市场与机会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745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05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全球 AI 陪伴市场六年增长四倍（CAGR 30.8%），中国虚拟数字人核心规模 480.6 亿元</a:t>
            </a:r>
            <a:endParaRPr lang="en-US" sz="2050" dirty="0"/>
          </a:p>
        </p:txBody>
      </p:sp>
      <p:sp>
        <p:nvSpPr>
          <p:cNvPr id="4" name="Text 2"/>
          <p:cNvSpPr/>
          <p:nvPr/>
        </p:nvSpPr>
        <p:spPr>
          <a:xfrm>
            <a:off x="457200" y="1572768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全球 AI 陪伴市场规模（亿美元）</a:t>
            </a:r>
            <a:endParaRPr lang="en-US" sz="13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965960"/>
          <a:ext cx="585216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675120" y="178308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10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30.8%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675120" y="2350008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全球 AI 陪伴市场 CAGR（2024–2030，Grand View Research）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675120" y="2953512"/>
            <a:ext cx="505663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675120" y="308152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480.6 亿元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6675120" y="3648456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2025 中国虚拟数字人核心市场规模（艾媒咨询，带动市场 6,402.7 亿元）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675120" y="4251960"/>
            <a:ext cx="505663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75120" y="4379976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+64%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6675120" y="4946904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2025H1 AI 陪伴 App 消费支出同比（8,200 万美元，Appfigures）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" y="5870448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810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定性判断：C 端付费行为已经发生，供给端缺少「开源自托管 × 全栈交互」的产品。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457200" y="6382512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来源：Grand View Research（2024–2030 及 2026 年更新版预测）；艾媒咨询《中国虚拟数字人产业白皮书》；Appfigures（2025-08）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0881360" y="651052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/ 14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一、市场与机会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745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05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Neuro-sama 登顶 Twitch 订阅第一：AI 主播的订阅、打赏、传播闭环已被完整验证</a:t>
            </a:r>
            <a:endParaRPr lang="en-US" sz="2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27632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377440"/>
                <a:gridCol w="1280160"/>
                <a:gridCol w="469087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指标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数值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时间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含义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1F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Twitch 活跃订阅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810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16.2 万 · 全站第一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9595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2026-01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9595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超越全部真人主播频道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1F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单场直播峰值观众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810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45,605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9595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2025-01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9595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AI VTuber 历史纪录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1F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Subathon 累计付费订阅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810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26.2 万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9595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2025-12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9595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订阅与打赏收入持续验证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1F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YouTube 订阅 / 累计播放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810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91.6 万 / 4.09 亿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9595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2026-09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9595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切片内容的二次传播效应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50749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补充事实：Neuro-sama 由开发者 Vedal 近乎独立运营，自研约 20 亿参数 LLM —— 单人 + 一套框架即可达到头部真人主播产能，但其能力闭源、单人设、不可复用。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5870448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810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结论：天花板已被验证，稀缺的是「人人可用」的产品化框架。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457200" y="6382512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来源：Twitch / Streams Charts；Netinfluencer、Tubefilter（2026-01）；Social Blade（2026-09）；Wikipedia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881360" y="651052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/ 14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二、竞品分析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745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05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四类玩家各占一角，「开源自托管 × 全栈交互」象限无人占据</a:t>
            </a:r>
            <a:endParaRPr lang="en-US" sz="2050" dirty="0"/>
          </a:p>
        </p:txBody>
      </p:sp>
      <p:sp>
        <p:nvSpPr>
          <p:cNvPr id="4" name="Shape 2"/>
          <p:cNvSpPr/>
          <p:nvPr/>
        </p:nvSpPr>
        <p:spPr>
          <a:xfrm>
            <a:off x="1417320" y="3703320"/>
            <a:ext cx="6720840" cy="0"/>
          </a:xfrm>
          <a:prstGeom prst="line">
            <a:avLst/>
          </a:prstGeom>
          <a:noFill/>
          <a:ln w="15875">
            <a:solidFill>
              <a:srgbClr val="8C8C8C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4754880" y="1572768"/>
            <a:ext cx="0" cy="4370832"/>
          </a:xfrm>
          <a:prstGeom prst="line">
            <a:avLst/>
          </a:prstGeom>
          <a:noFill/>
          <a:ln w="15875">
            <a:solidFill>
              <a:srgbClr val="8C8C8C"/>
            </a:solidFill>
            <a:prstDash val="solid"/>
            <a:headEnd type="triangle"/>
          </a:ln>
        </p:spPr>
      </p:sp>
      <p:sp>
        <p:nvSpPr>
          <p:cNvPr id="6" name="Text 4"/>
          <p:cNvSpPr/>
          <p:nvPr/>
        </p:nvSpPr>
        <p:spPr>
          <a:xfrm>
            <a:off x="1417320" y="60167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闭源 SaaS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675120" y="60167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开源自托管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 rot="16200000">
            <a:off x="-685800" y="35661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纯对话  ⟶  全栈具身交互（唱 · 播 · 玩）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852160" y="1938528"/>
            <a:ext cx="2103120" cy="1024128"/>
          </a:xfrm>
          <a:prstGeom prst="roundRect">
            <a:avLst>
              <a:gd name="adj" fmla="val 4464"/>
            </a:avLst>
          </a:prstGeom>
          <a:solidFill>
            <a:srgbClr val="C8102E"/>
          </a:solidFill>
          <a:ln/>
        </p:spPr>
      </p:sp>
      <p:sp>
        <p:nvSpPr>
          <p:cNvPr id="10" name="Text 8"/>
          <p:cNvSpPr/>
          <p:nvPr/>
        </p:nvSpPr>
        <p:spPr>
          <a:xfrm>
            <a:off x="5852160" y="1938528"/>
            <a:ext cx="21031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Animetta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DEB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开源自托管 · 五项全栈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828800" y="1938528"/>
            <a:ext cx="228600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0" y="1938528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Neuro-sama</a:t>
            </a:r>
            <a:endParaRPr lang="en-US" sz="13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闭源 · 单人设 · Twitch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40680" y="4023360"/>
            <a:ext cx="2606040" cy="1207008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77840" y="4096512"/>
            <a:ext cx="237744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AIRI · 4.9 万 ★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Open-LLM-VTuber · 1.4 万 ★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Amica · 0.2 万 ★（停更）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554480" y="3931920"/>
            <a:ext cx="278892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54480" y="393192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Character.AI · Replika</a:t>
            </a:r>
            <a:endParaRPr lang="en-US" sz="115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星野 · 猫箱 · X Eva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554480" y="4956048"/>
            <a:ext cx="278892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54480" y="4956048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硅基智能 · 腾讯智影</a:t>
            </a:r>
            <a:endParaRPr lang="en-US" sz="115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 端播报型 · 非实时交互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549640" y="1572768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为什么右上象限空缺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577072" y="2139696"/>
            <a:ext cx="109728" cy="10972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1" name="Text 19"/>
          <p:cNvSpPr/>
          <p:nvPr/>
        </p:nvSpPr>
        <p:spPr>
          <a:xfrm>
            <a:off x="8833104" y="205740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闭源 App</a:t>
            </a:r>
            <a:endParaRPr lang="en-US" sz="135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体验好，但记忆与关系锁死在云端，用户无法带走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8577072" y="3200400"/>
            <a:ext cx="109728" cy="10972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3" name="Text 21"/>
          <p:cNvSpPr/>
          <p:nvPr/>
        </p:nvSpPr>
        <p:spPr>
          <a:xfrm>
            <a:off x="8833104" y="3118104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开源框架</a:t>
            </a:r>
            <a:endParaRPr lang="en-US" sz="135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可自托管，却止步于「桌面聊天」，缺直播与歌唱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8577072" y="4261104"/>
            <a:ext cx="109728" cy="10972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5" name="Text 23"/>
          <p:cNvSpPr/>
          <p:nvPr/>
        </p:nvSpPr>
        <p:spPr>
          <a:xfrm>
            <a:off x="8833104" y="4178808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 端数字人</a:t>
            </a:r>
            <a:endParaRPr lang="en-US" sz="135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念稿播报为主，不是能对话的实时智能体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8549640" y="5394960"/>
            <a:ext cx="3182112" cy="566928"/>
          </a:xfrm>
          <a:prstGeom prst="roundRect">
            <a:avLst>
              <a:gd name="adj" fmla="val 8065"/>
            </a:avLst>
          </a:prstGeom>
          <a:solidFill>
            <a:srgbClr val="1F1F1F"/>
          </a:solidFill>
          <a:ln/>
        </p:spPr>
      </p:sp>
      <p:sp>
        <p:nvSpPr>
          <p:cNvPr id="27" name="Text 25"/>
          <p:cNvSpPr/>
          <p:nvPr/>
        </p:nvSpPr>
        <p:spPr>
          <a:xfrm>
            <a:off x="8549640" y="5394960"/>
            <a:ext cx="3182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右上象限 = Animetta 独占卡位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6382512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★ 为 GitHub 星标数，来源：GitHub API 实测（2026-09-19）；其余为各公司公开资料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881360" y="651052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 / 14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二、竞品分析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745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05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五项能力对比：仅 Animetta 全覆盖，且是唯一开源自托管的全栈框架</a:t>
            </a:r>
            <a:endParaRPr lang="en-US" sz="2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72768"/>
          <a:ext cx="1127455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417320"/>
                <a:gridCol w="1417320"/>
                <a:gridCol w="1691640"/>
                <a:gridCol w="1691640"/>
                <a:gridCol w="1600200"/>
                <a:gridCol w="1353312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能力维度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Neuro-sama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AIRI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Open-LLM-VTuber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商业陪伴 App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 端数字人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Animetta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1F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实时语音对话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1F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1F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1F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1F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念稿播报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810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 可打断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1F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Live2D / 虚拟形象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1F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 Live2D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1F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 VRM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1F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 Live2D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2D 头像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1F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 视频分身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810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 Live2D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1F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长期记忆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部分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FBFB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—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会话级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1F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 锁在云端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FBFB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—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810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 混合检索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1F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AI 歌唱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1F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FBFB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—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FBFB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—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少数内置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FBFB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—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810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 RVC 声线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1F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直播实时互动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1F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 Twitch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FBFB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—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FBFB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—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FBFB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—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带货话术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810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 B 站弹幕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1F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游戏游玩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1F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1F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 MC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FBFB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—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FBFB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—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FBFB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—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810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 MC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1F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开源自托管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FBFB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—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1F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1F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FBFB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—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FBFB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—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810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EE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382512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支持 · 部分 = 有限支持 · — 不支持。Animetta 歌唱与游戏为原型级能力（见第 12 页规划）。来源：各项目 GitHub 仓库与官方产品页（2026-09）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881360" y="651052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 / 14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二、竞品分析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745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05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付费意愿双端验证：C 端千万级月活与亿美元收入，B 端亿元级营收</a:t>
            </a:r>
            <a:endParaRPr lang="en-US" sz="2050" dirty="0"/>
          </a:p>
        </p:txBody>
      </p:sp>
      <p:sp>
        <p:nvSpPr>
          <p:cNvPr id="4" name="Text 2"/>
          <p:cNvSpPr/>
          <p:nvPr/>
        </p:nvSpPr>
        <p:spPr>
          <a:xfrm>
            <a:off x="457200" y="1572768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头部 AI 陪伴产品月活（百万，2025）</a:t>
            </a:r>
            <a:endParaRPr lang="en-US" sz="13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965960"/>
          <a:ext cx="576072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37960" y="1965960"/>
          <a:ext cx="5193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3776472"/>
              </a:tblGrid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1F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Character.AI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9595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2025 年收入约 5,000 万美元（+66%）；获 Google 约 27 亿美元技术授权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1F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小冰公司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9595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投后估值约 20 亿美元；2024 年以 140 亿元列胡润独角兽榜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1F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硅基智能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9595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数字人营收 2022 年 2.23 亿 → 2024 年 6.55 亿元，已递交港股招股书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1F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定价锚点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9595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闪剪 2,980 元/年；腾讯智影 2,000 元/形象、AI 直播间算力 1 万+/月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6382512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来源：Business of Apps / WSJ；财新、胡润研究院；硅基智能招股书（财联社）；MiniMax 招股书（虎嗅转述）；点点数据（2024–2026）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10881360" y="651052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07 / 14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三、方案与卖点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745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05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Animetta 以 LangGraph 状态图编排全栈链路：一条链路驱动表情、语音与工具三路输出</a:t>
            </a:r>
            <a:endParaRPr lang="en-US" sz="2050" dirty="0"/>
          </a:p>
        </p:txBody>
      </p:sp>
      <p:sp>
        <p:nvSpPr>
          <p:cNvPr id="4" name="Text 2"/>
          <p:cNvSpPr/>
          <p:nvPr/>
        </p:nvSpPr>
        <p:spPr>
          <a:xfrm>
            <a:off x="457200" y="1426464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从观众输入到三路实时输出 —— 链路每一步可插拔、可观测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880360"/>
            <a:ext cx="1325880" cy="1188720"/>
          </a:xfrm>
          <a:prstGeom prst="roundRect">
            <a:avLst>
              <a:gd name="adj" fmla="val 3846"/>
            </a:avLst>
          </a:prstGeom>
          <a:solidFill>
            <a:srgbClr val="1F1F1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880360"/>
            <a:ext cx="1325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观众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9C9C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语音 · 弹幕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801368" y="3474720"/>
            <a:ext cx="228600" cy="0"/>
          </a:xfrm>
          <a:prstGeom prst="line">
            <a:avLst/>
          </a:prstGeom>
          <a:noFill/>
          <a:ln w="22225">
            <a:solidFill>
              <a:srgbClr val="8C8C8C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057400" y="3017520"/>
            <a:ext cx="146304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57400" y="301752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ASR 语音识别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794760" y="3017520"/>
            <a:ext cx="160020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94760" y="301752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人格 · 记忆注入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715000" y="3017520"/>
            <a:ext cx="132588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15000" y="301752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LLM 推理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60920" y="3017520"/>
            <a:ext cx="132588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60920" y="301752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情感理解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538728" y="3474720"/>
            <a:ext cx="228600" cy="0"/>
          </a:xfrm>
          <a:prstGeom prst="line">
            <a:avLst/>
          </a:prstGeom>
          <a:noFill/>
          <a:ln w="22225">
            <a:solidFill>
              <a:srgbClr val="8C8C8C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413248" y="3474720"/>
            <a:ext cx="228600" cy="0"/>
          </a:xfrm>
          <a:prstGeom prst="line">
            <a:avLst/>
          </a:prstGeom>
          <a:noFill/>
          <a:ln w="22225">
            <a:solidFill>
              <a:srgbClr val="8C8C8C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059168" y="3474720"/>
            <a:ext cx="228600" cy="0"/>
          </a:xfrm>
          <a:prstGeom prst="line">
            <a:avLst/>
          </a:prstGeom>
          <a:noFill/>
          <a:ln w="22225">
            <a:solidFill>
              <a:srgbClr val="8C8C8C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686800" y="3474720"/>
            <a:ext cx="201168" cy="0"/>
          </a:xfrm>
          <a:prstGeom prst="line">
            <a:avLst/>
          </a:prstGeom>
          <a:noFill/>
          <a:ln w="22225">
            <a:solidFill>
              <a:srgbClr val="8C8C8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87968" y="2514600"/>
            <a:ext cx="0" cy="1920240"/>
          </a:xfrm>
          <a:prstGeom prst="line">
            <a:avLst/>
          </a:prstGeom>
          <a:noFill/>
          <a:ln w="22225">
            <a:solidFill>
              <a:srgbClr val="8C8C8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887968" y="2514600"/>
            <a:ext cx="237744" cy="0"/>
          </a:xfrm>
          <a:prstGeom prst="line">
            <a:avLst/>
          </a:prstGeom>
          <a:noFill/>
          <a:ln w="22225">
            <a:solidFill>
              <a:srgbClr val="8C8C8C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144000" y="2103120"/>
            <a:ext cx="2587752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17152" y="2103120"/>
            <a:ext cx="24414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Live2D 表情动作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887968" y="3474720"/>
            <a:ext cx="237744" cy="0"/>
          </a:xfrm>
          <a:prstGeom prst="line">
            <a:avLst/>
          </a:prstGeom>
          <a:noFill/>
          <a:ln w="22225">
            <a:solidFill>
              <a:srgbClr val="8C8C8C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144000" y="3063240"/>
            <a:ext cx="2587752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17152" y="3063240"/>
            <a:ext cx="24414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TTS 语音 · RVC 歌声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887968" y="4434840"/>
            <a:ext cx="237744" cy="0"/>
          </a:xfrm>
          <a:prstGeom prst="line">
            <a:avLst/>
          </a:prstGeom>
          <a:noFill/>
          <a:ln w="22225">
            <a:solidFill>
              <a:srgbClr val="8C8C8C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144000" y="4023360"/>
            <a:ext cx="2587752" cy="822960"/>
          </a:xfrm>
          <a:prstGeom prst="roundRect">
            <a:avLst>
              <a:gd name="adj" fmla="val 5556"/>
            </a:avLst>
          </a:prstGeom>
          <a:solidFill>
            <a:srgbClr val="C8102E"/>
          </a:solidFill>
          <a:ln/>
        </p:spPr>
      </p:sp>
      <p:sp>
        <p:nvSpPr>
          <p:cNvPr id="29" name="Text 27"/>
          <p:cNvSpPr/>
          <p:nvPr/>
        </p:nvSpPr>
        <p:spPr>
          <a:xfrm>
            <a:off x="9217152" y="4023360"/>
            <a:ext cx="24414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工具调用：Minecraft · 直播互动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57200" y="5074920"/>
            <a:ext cx="2688336" cy="9144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1" name="Text 29"/>
          <p:cNvSpPr/>
          <p:nvPr/>
        </p:nvSpPr>
        <p:spPr>
          <a:xfrm>
            <a:off x="621792" y="5148072"/>
            <a:ext cx="2359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前端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Vue 3 · Electron · Live2D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3319272" y="5074920"/>
            <a:ext cx="2688336" cy="9144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3" name="Text 31"/>
          <p:cNvSpPr/>
          <p:nvPr/>
        </p:nvSpPr>
        <p:spPr>
          <a:xfrm>
            <a:off x="3483864" y="5148072"/>
            <a:ext cx="2359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实时通道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Socket.IO 实时会话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181344" y="5074920"/>
            <a:ext cx="2688336" cy="9144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5" name="Text 33"/>
          <p:cNvSpPr/>
          <p:nvPr/>
        </p:nvSpPr>
        <p:spPr>
          <a:xfrm>
            <a:off x="6345936" y="5148072"/>
            <a:ext cx="2359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Provider 插件制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LLM / ASR / TTS / VAD 一键切换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9043416" y="5074920"/>
            <a:ext cx="2688336" cy="9144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7" name="Text 35"/>
          <p:cNvSpPr/>
          <p:nvPr/>
        </p:nvSpPr>
        <p:spPr>
          <a:xfrm>
            <a:off x="9208008" y="5148072"/>
            <a:ext cx="2359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可观测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OTel · Prometheus · Stats 面板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457200" y="6382512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ASR → 人格 → LLM → 情感 → 输出的编排链路、Provider 插件与记忆系统均已实现并经测试覆盖（11 项 ADR）；歌唱与游戏工具为原型级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881360" y="651052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08 / 14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三、方案与卖点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745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05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卖点一：五项能力一体，同一人格与记忆贯穿全部场景，竞品平均覆盖不到两项</a:t>
            </a:r>
            <a:endParaRPr lang="en-US" sz="205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说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2606040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多模型大脑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457200" y="3063240"/>
            <a:ext cx="20756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DeepSeek / Qwen / MIMO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Provider 插件化切换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642616" y="1783080"/>
            <a:ext cx="0" cy="283464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61488" y="178308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听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761488" y="2606040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实时听觉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2761488" y="3063240"/>
            <a:ext cx="20756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流式 ASR 识别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用户可随时打断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946904" y="1783080"/>
            <a:ext cx="0" cy="283464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65776" y="178308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唱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065776" y="2606040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歌唱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5065776" y="3063240"/>
            <a:ext cx="20756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RVC 声线推理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弹幕点歌开唱（原型）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251192" y="1783080"/>
            <a:ext cx="0" cy="283464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70064" y="178308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播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7370064" y="2606040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直播营业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7370064" y="3063240"/>
            <a:ext cx="20756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 站弹幕实时互动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OBS 推流直播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555480" y="1783080"/>
            <a:ext cx="0" cy="283464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74352" y="178308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10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玩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9674352" y="2606040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自主游玩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9674352" y="3063240"/>
            <a:ext cx="20756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Minecraft 世界交互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弹幕点名互动（原型）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" y="4800600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9560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覆盖对比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2377440" y="4901184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AIRI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●●●○○  3/5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73168" y="4901184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Open-LLM-VTuber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●●○○○  2/5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168896" y="4901184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商业陪伴 App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●●○○○  2/5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564624" y="4901184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C810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Animetta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C810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●●●●●  5/5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5870448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810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结论：一体化不是五个功能的拼凑 —— 她记得的、她唱的、她玩的，是同一个「人」。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457200" y="6382512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覆盖统计口径见第 6 页矩阵；● 为支持项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881360" y="651052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09 / 14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三、方案与卖点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745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05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卖点二：混合记忆让角色「不失忆、不变脸」，数据资产归用户所有</a:t>
            </a:r>
            <a:endParaRPr lang="en-US" sz="2050" dirty="0"/>
          </a:p>
        </p:txBody>
      </p:sp>
      <p:sp>
        <p:nvSpPr>
          <p:cNvPr id="4" name="Shape 2"/>
          <p:cNvSpPr/>
          <p:nvPr/>
        </p:nvSpPr>
        <p:spPr>
          <a:xfrm>
            <a:off x="2331720" y="1554480"/>
            <a:ext cx="22860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331720" y="1554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每一轮对话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474720" y="2011680"/>
            <a:ext cx="0" cy="219456"/>
          </a:xfrm>
          <a:prstGeom prst="line">
            <a:avLst/>
          </a:prstGeom>
          <a:noFill/>
          <a:ln w="22225">
            <a:solidFill>
              <a:srgbClr val="8C8C8C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57200" y="2267712"/>
            <a:ext cx="201168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267712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Chroma 向量库</a:t>
            </a:r>
            <a:endParaRPr lang="en-US" sz="13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语义记忆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0" y="2267712"/>
            <a:ext cx="201168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80360" y="2267712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SQLite FTS5</a:t>
            </a:r>
            <a:endParaRPr lang="en-US" sz="13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关键词记忆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0" y="2267712"/>
            <a:ext cx="201168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66360" y="2267712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Markdown Wiki</a:t>
            </a:r>
            <a:endParaRPr lang="en-US" sz="13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人格档案 · 兴趣画像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474720" y="3273552"/>
            <a:ext cx="0" cy="219456"/>
          </a:xfrm>
          <a:prstGeom prst="line">
            <a:avLst/>
          </a:prstGeom>
          <a:noFill/>
          <a:ln w="22225">
            <a:solidFill>
              <a:srgbClr val="8C8C8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57200" y="3529584"/>
            <a:ext cx="658368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529584"/>
            <a:ext cx="6583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 站梗库 —— 流行梗与直播语境持续学习（ADR-010）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474720" y="4151376"/>
            <a:ext cx="0" cy="219456"/>
          </a:xfrm>
          <a:prstGeom prst="line">
            <a:avLst/>
          </a:prstGeom>
          <a:noFill/>
          <a:ln w="22225">
            <a:solidFill>
              <a:srgbClr val="8C8C8C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57200" y="4407408"/>
            <a:ext cx="6583680" cy="685800"/>
          </a:xfrm>
          <a:prstGeom prst="roundRect">
            <a:avLst>
              <a:gd name="adj" fmla="val 6667"/>
            </a:avLst>
          </a:prstGeom>
          <a:solidFill>
            <a:srgbClr val="1F1F1F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407408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检索融合 · 向量 70% + 关键词 30% 混合权重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474720" y="5093208"/>
            <a:ext cx="0" cy="219456"/>
          </a:xfrm>
          <a:prstGeom prst="line">
            <a:avLst/>
          </a:prstGeom>
          <a:noFill/>
          <a:ln w="22225">
            <a:solidFill>
              <a:srgbClr val="8C8C8C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57200" y="5349240"/>
            <a:ext cx="658368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C810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534924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810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注入下一轮对话 —— 她记得你说过的每一句话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406640" y="1627632"/>
            <a:ext cx="4343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45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数据主权</a:t>
            </a:r>
            <a:endParaRPr lang="en-US" sz="1450" dirty="0"/>
          </a:p>
          <a:p>
            <a:pPr indent="0" marL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商业 App 的记忆锁死在云端、无法迁移；自托管让用户真正拥有这段「关系」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7406640" y="2944368"/>
            <a:ext cx="432511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06640" y="3108960"/>
            <a:ext cx="4343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45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召回质量</a:t>
            </a:r>
            <a:endParaRPr lang="en-US" sz="1450" dirty="0"/>
          </a:p>
          <a:p>
            <a:pPr indent="0" marL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向量 + 关键词混合检索（ADR-002），比单一向量记忆召回更准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7406640" y="4425696"/>
            <a:ext cx="432511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06640" y="4590288"/>
            <a:ext cx="4343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45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人格一致</a:t>
            </a:r>
            <a:endParaRPr lang="en-US" sz="1450" dirty="0"/>
          </a:p>
          <a:p>
            <a:pPr indent="0" marL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Wiki 档案 + 梗库让角色不失忆、不变脸（ADR-005 / 010），长期陪伴成立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457200" y="6382512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混合权重 70/30 为默认配置，可调；架构见仓库 ADR-002 / ADR-005 / ADR-010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881360" y="651052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/ 14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三、方案与卖点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745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05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卖点三：企业级工程骨架就绪 —— 商业化是叠加，不是重构</a:t>
            </a:r>
            <a:endParaRPr lang="en-US" sz="205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2688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 项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2157984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架构决策记录（ADR）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319272" y="1554480"/>
            <a:ext cx="2688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 个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319272" y="2157984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架构分层模块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81344" y="1554480"/>
            <a:ext cx="2688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63 个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181344" y="2157984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LangGraph 编排图节点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043416" y="1554480"/>
            <a:ext cx="2688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OTel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043416" y="2157984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全链路分布式追踪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697480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926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937760"/>
                <a:gridCol w="3959352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机制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价值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1F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Provider 注册制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9595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interface → 实现 → 工厂 → 导出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新增模型供应商零侵入核心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1F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影响感知验证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9595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tooling.quality 按改动范围自动圈定测试组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重构有安全网，质量可回归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1F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可观测栈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9595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OTel 追踪 + Prometheus 指标 + Stats 面板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线上问题分钟级定位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1F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一键部署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9595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Docker Compose / Zeabur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个人版一条命令拉起全栈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457200" y="5870448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810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结论：融资将投入产品与市场，而非偿还架构债务 —— 小团队做大产品的唯一路径。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457200" y="6382512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数据来源：仓库 docs/adrs/（11 项 ADR）、架构知识图谱统计（15 分层 / 63 编排节点）、tooling/quality 组件映射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0881360" y="651052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 / 14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四、规划与回报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745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05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四阶段规划：2026Q4 公开直播验证「有人看」，2027 年形成商业闭环「有人付」</a:t>
            </a:r>
            <a:endParaRPr lang="en-US" sz="2050" dirty="0"/>
          </a:p>
        </p:txBody>
      </p:sp>
      <p:sp>
        <p:nvSpPr>
          <p:cNvPr id="4" name="Shape 2"/>
          <p:cNvSpPr/>
          <p:nvPr/>
        </p:nvSpPr>
        <p:spPr>
          <a:xfrm>
            <a:off x="822960" y="2121408"/>
            <a:ext cx="10515600" cy="0"/>
          </a:xfrm>
          <a:prstGeom prst="line">
            <a:avLst/>
          </a:prstGeom>
          <a:noFill/>
          <a:ln w="19050">
            <a:solidFill>
              <a:srgbClr val="8C8C8C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1636776" y="1993392"/>
            <a:ext cx="256032" cy="256032"/>
          </a:xfrm>
          <a:prstGeom prst="ellipse">
            <a:avLst/>
          </a:prstGeom>
          <a:solidFill>
            <a:srgbClr val="1F1F1F"/>
          </a:solidFill>
          <a:ln w="25400">
            <a:solidFill>
              <a:srgbClr val="1F1F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81328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 Q3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58368" y="2724912"/>
            <a:ext cx="868680" cy="36576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2724912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已达成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58368" y="3246120"/>
            <a:ext cx="22128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语音对话全链路闭环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 站直播与弹幕接入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混合记忆 v2 落地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歌唱 · Minecraft 原型跑通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26280" y="1993392"/>
            <a:ext cx="256032" cy="25603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C8C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46704" y="1481328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 Q4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547872" y="2724912"/>
            <a:ext cx="86868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47872" y="2724912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规划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547872" y="3246120"/>
            <a:ext cx="22128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公开测试直播 30 分钟不中断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沉淀 10 条传播切片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观众反馈驱动人格迭代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9544" y="2606040"/>
            <a:ext cx="0" cy="265176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15784" y="1993392"/>
            <a:ext cx="256032" cy="25603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C8C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36208" y="1481328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2027 H1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37376" y="2724912"/>
            <a:ext cx="86868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37376" y="2724912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规划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37376" y="3246120"/>
            <a:ext cx="22128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Anima Cloud 云托管 Beta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形象 · 人格市场上线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抖音 / YouTube 多平台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99048" y="2606040"/>
            <a:ext cx="0" cy="265176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305288" y="1993392"/>
            <a:ext cx="256032" cy="256032"/>
          </a:xfrm>
          <a:prstGeom prst="ellipse">
            <a:avLst/>
          </a:prstGeom>
          <a:solidFill>
            <a:srgbClr val="C8102E"/>
          </a:solidFill>
          <a:ln w="25400">
            <a:solidFill>
              <a:srgbClr val="C810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25712" y="1481328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2027 H2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326880" y="2724912"/>
            <a:ext cx="86868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26880" y="2724912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810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规划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326880" y="3246120"/>
            <a:ext cx="22128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企业虚拟主播私有化部署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MCN 内容合作与分成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988552" y="2606040"/>
            <a:ext cx="0" cy="265176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544068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节奏原则：每一步以上一步的公开反馈为输入，先验证「有人愿意看」，再验证「有人愿意付」。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6382512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「已达成」以仓库当前实现为准；「规划」为承诺目标（招标口径），非当前实现，详见仓库 roadmap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881360" y="651052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 / 14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四、规划与回报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745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05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开源获客、四层变现，两端定价锚点均已被市场验证</a:t>
            </a:r>
            <a:endParaRPr lang="en-US" sz="20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27632"/>
          <a:ext cx="11274552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377440"/>
                <a:gridCol w="3291840"/>
                <a:gridCol w="469087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层级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产品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定价 / 模式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市场锚点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810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01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1F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开源核心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免费 · MIT 自托管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9595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AIRI 4.9 万 ★ 已验证社区需求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810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02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1F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Anima Cloud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订阅 ¥99–399 / 月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9595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闪剪 298 元/月；腾讯智影 AI 直播间算力 1 万+/月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810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03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1F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形象 · 人格市场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交易抽成 30%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9595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Live2D 模型单品市场已是成熟供给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810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04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1F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企业方案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私有化部署 · 客单 10 万+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9595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硅基智能 2024 年营收 6.55 亿元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525780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单位经济参照：Character.AI 2025 年收入约 5,000 万美元、AI 陪伴 App 半年消费 8,200 万美元 —— 开源生态占据中间层后，四层收入结构可交叉验证。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589788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810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结论：先生态、后变现 —— 每一层定价都有现成市场的价格带作为锚点，不赌定价权。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457200" y="6382512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锚点数据来源：GitHub、闪剪 / 腾讯智影公开定价、硅基智能招股书、Business of Apps / Appfigures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881360" y="651052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 / 14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四、规划与回报 · 总结与建议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时机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554480" y="1252728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实时语音与推理成本快速下降，复制 Neuro-sama 的窗口刚刚打开；市场以 30%+ 复合增速扩张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984248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13055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卡位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554480" y="2148840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开源框架无人覆盖「记忆 + 歌唱 + 直播 + 游戏」组合；商业 App 闭源锁定，反向衬托自托管价值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880360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02666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壁垒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554480" y="3044952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企业级工程骨架已就绪；记忆与人格资产随使用持续沉淀，形成数据复利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4069080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97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总结与建议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4709160"/>
            <a:ext cx="112745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2100" b="1" dirty="0">
                <a:solidFill>
                  <a:srgbClr val="C810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建议把握技术成本下降与市场高增的窗口期，投资 Animetta ——</a:t>
            </a:r>
            <a:endParaRPr lang="en-US" sz="2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2100" b="1" dirty="0">
                <a:solidFill>
                  <a:srgbClr val="C810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把下一个 Neuro-sama，交给每个人。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Animetta · 投资汇报 · 2026.09 · 机密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Animetta 投资汇报（华为胶片风格版）</dc:title>
  <dc:subject>PptxGenJS Presentation</dc:subject>
  <dc:creator>Animetta</dc:creator>
  <cp:lastModifiedBy>Animetta</cp:lastModifiedBy>
  <cp:revision>1</cp:revision>
  <dcterms:created xsi:type="dcterms:W3CDTF">2026-09-19T10:38:22Z</dcterms:created>
  <dcterms:modified xsi:type="dcterms:W3CDTF">2026-09-19T10:38:22Z</dcterms:modified>
</cp:coreProperties>
</file>